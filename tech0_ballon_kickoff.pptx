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Oval 2"/>
          <p:cNvSpPr/>
          <p:nvPr/>
        </p:nvSpPr>
        <p:spPr>
          <a:xfrm>
            <a:off x="-2286000" y="-2032000"/>
            <a:ext cx="9652000" cy="9652000"/>
          </a:xfrm>
          <a:prstGeom prst="ellipse">
            <a:avLst/>
          </a:prstGeom>
          <a:solidFill>
            <a:srgbClr val="1B3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4" name="Oval 3"/>
          <p:cNvSpPr/>
          <p:nvPr/>
        </p:nvSpPr>
        <p:spPr>
          <a:xfrm>
            <a:off x="8890000" y="4191000"/>
            <a:ext cx="5334000" cy="5334000"/>
          </a:xfrm>
          <a:prstGeom prst="ellipse">
            <a:avLst/>
          </a:prstGeom>
          <a:solidFill>
            <a:srgbClr val="1B3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lang="ja-JP">
                <a:solidFill>
                  <a:srgbClr val="FFFFFF"/>
                </a:solidFill>
                <a:latin typeface="Noto Sans JP"/>
                <a:ea typeface="Noto Sans JP"/>
              </a:rPr>
              <a:t>風船アプリ移植クエスト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735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lang="ja-JP" spc="140">
                <a:solidFill>
                  <a:srgbClr val="FFFFFF"/>
                </a:solidFill>
                <a:latin typeface="Noto Sans JP"/>
                <a:ea typeface="Noto Sans JP"/>
              </a:rPr>
              <a:t>Tech0 ｜ キックオフ 2026.09.11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381500"/>
            <a:ext cx="1016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lang="ja-JP" spc="160">
                <a:solidFill>
                  <a:srgbClr val="C9D8F5"/>
                </a:solidFill>
                <a:latin typeface="Noto Sans JP"/>
                <a:ea typeface="Noto Sans JP"/>
              </a:rPr>
              <a:t>Next.js × FastAPI × Supabase で、自分の URL を持つ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01 クエストの趣旨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問いから始めて、</a:t>
            </a:r>
          </a:p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要求 → 要件 → 仕様 → 実装を自分たちで通す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9500" y="2184400"/>
            <a:ext cx="10350500" cy="1168400"/>
          </a:xfrm>
          <a:prstGeom prst="roundRect">
            <a:avLst>
              <a:gd name="adj" fmla="val 13043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384300" y="2184400"/>
            <a:ext cx="9740900" cy="116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このアプリでダイエットに取り組みたい、使い続けたいと思うには、どんな利用体験が必要か？</a:t>
            </a:r>
          </a:p>
          <a:p>
            <a:pPr algn="ctr">
              <a:lnSpc>
                <a:spcPct val="140000"/>
              </a:lnSpc>
            </a:pPr>
            <a:r>
              <a:rPr sz="1250" b="0">
                <a:solidFill>
                  <a:srgbClr val="CADEFA"/>
                </a:solidFill>
                <a:latin typeface="Noto Sans JP"/>
                <a:ea typeface="Noto Sans JP"/>
              </a:rPr>
              <a:t>移植元: Streamlit 版「ダイエット風船アプリ」。この問いへの答えを、チームで作り直す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9500" y="3657600"/>
            <a:ext cx="2397125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384300" y="38862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384300" y="3886200"/>
            <a:ext cx="1143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1900" y="4343400"/>
            <a:ext cx="2092325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lang="ja-JP">
                <a:solidFill>
                  <a:srgbClr val="171725"/>
                </a:solidFill>
                <a:latin typeface="Noto Sans JP"/>
                <a:ea typeface="Noto Sans JP"/>
              </a:rPr>
              <a:t>要求・要件を議論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1900" y="4800600"/>
            <a:ext cx="2092325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問いへの答えを</a:t>
            </a:r>
          </a:p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個人 → チームで言葉にする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7425" y="4495800"/>
            <a:ext cx="152400" cy="228600"/>
          </a:xfrm>
          <a:prstGeom prst="roundRect">
            <a:avLst/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730625" y="3657600"/>
            <a:ext cx="2397125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035425" y="38862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035425" y="3886200"/>
            <a:ext cx="1143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3025" y="4343400"/>
            <a:ext cx="2092325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lang="ja-JP">
                <a:solidFill>
                  <a:srgbClr val="171725"/>
                </a:solidFill>
                <a:latin typeface="Noto Sans JP"/>
                <a:ea typeface="Noto Sans JP"/>
              </a:rPr>
              <a:t>文書にする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3025" y="4800600"/>
            <a:ext cx="2092325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要求・要件・仕様・設計・</a:t>
            </a:r>
          </a:p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テスト設計の5枚。未決ゼロまで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550" y="4495800"/>
            <a:ext cx="152400" cy="228600"/>
          </a:xfrm>
          <a:prstGeom prst="roundRect">
            <a:avLst/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381750" y="3657600"/>
            <a:ext cx="2397125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686550" y="38862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686550" y="3886200"/>
            <a:ext cx="1143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4150" y="4343400"/>
            <a:ext cx="2092325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lang="ja-JP">
                <a:solidFill>
                  <a:srgbClr val="171725"/>
                </a:solidFill>
                <a:latin typeface="Noto Sans JP"/>
                <a:ea typeface="Noto Sans JP"/>
              </a:rPr>
              <a:t>V字で作る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150" y="4800600"/>
            <a:ext cx="2092325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文書どおりに実装し、</a:t>
            </a:r>
          </a:p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文書どおりに確認する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9675" y="4495800"/>
            <a:ext cx="152400" cy="228600"/>
          </a:xfrm>
          <a:prstGeom prst="roundRect">
            <a:avLst/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9032875" y="3657600"/>
            <a:ext cx="2397125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9337675" y="38862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337675" y="3886200"/>
            <a:ext cx="1143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5275" y="4343400"/>
            <a:ext cx="2092325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lang="ja-JP">
                <a:solidFill>
                  <a:srgbClr val="171725"/>
                </a:solidFill>
                <a:latin typeface="Noto Sans JP"/>
                <a:ea typeface="Noto Sans JP"/>
              </a:rPr>
              <a:t>自分たちで評価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5275" y="4800600"/>
            <a:ext cx="2092325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本番 URL で、自分たちの</a:t>
            </a:r>
          </a:p>
          <a:p>
            <a:pPr algn="ctr">
              <a:lnSpc>
                <a:spcPct val="13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要求に照らして採点する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9500" y="57404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講義はなし。プレイブック（docs/PLAYBOOK.md）と週ごとのチェックリストを見て、チームで自力で進める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02 終了後にできていてほしいこと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5週間後、この3つを持ち帰る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9500" y="1905000"/>
            <a:ext cx="3162300" cy="29464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384300" y="2209800"/>
            <a:ext cx="5842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384300" y="2209800"/>
            <a:ext cx="5842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体験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2700" y="2679700"/>
            <a:ext cx="27559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自分の URL で動くアプリ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2700" y="3467100"/>
            <a:ext cx="2755900" cy="1079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 lang="ja-JP">
                <a:solidFill>
                  <a:srgbClr val="171725"/>
                </a:solidFill>
                <a:latin typeface="Noto Sans JP"/>
                <a:ea typeface="Noto Sans JP"/>
              </a:rPr>
              <a:t>Next.js（画面）＋ FastAPI（API）＋ Supabase（DB）を、自分の手で本番に置く。人に見せられる状態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3600" y="1905000"/>
            <a:ext cx="3162300" cy="29464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4978400" y="2209800"/>
            <a:ext cx="5842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978400" y="2209800"/>
            <a:ext cx="5842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感覚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2679700"/>
            <a:ext cx="27559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「作る前に決める」が体で分かる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0" y="3467100"/>
            <a:ext cx="2755900" cy="1079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 lang="ja-JP">
                <a:solidFill>
                  <a:srgbClr val="171725"/>
                </a:solidFill>
                <a:latin typeface="Noto Sans JP"/>
                <a:ea typeface="Noto Sans JP"/>
              </a:rPr>
              <a:t>要求 → 要件 → 仕様を詰めてから作る。文書の穴がそのまま実装の穴になる、を体験する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7700" y="1905000"/>
            <a:ext cx="3162300" cy="29464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8572500" y="2209800"/>
            <a:ext cx="5842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572500" y="2209800"/>
            <a:ext cx="5842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経験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0900" y="2679700"/>
            <a:ext cx="27559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AI に仕様を渡して作らせた経験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0900" y="3467100"/>
            <a:ext cx="2755900" cy="1079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 lang="ja-JP">
                <a:solidFill>
                  <a:srgbClr val="171725"/>
                </a:solidFill>
                <a:latin typeface="Noto Sans JP"/>
                <a:ea typeface="Noto Sans JP"/>
              </a:rPr>
              <a:t>Claude Code（片方の班は munder のAIチーム）に、自分たちの文書を渡して実装させる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500" y="50292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理解しきれなくてよい。「この技術で何ができるか」と「文書を書いてから作ると何が変わるか」が掴めれば成功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03 Next.js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画面を作る道具。ブラウザの中で動く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3</a:t>
            </a:r>
          </a:p>
        </p:txBody>
      </p:sp>
      <p:pic>
        <p:nvPicPr>
          <p:cNvPr id="8" name="Picture 7" descr="fig_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778000"/>
            <a:ext cx="9334500" cy="33189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9500" y="52832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正確には: React で画面を組むフレームワーク。Streamlit の st.button / st.line_chart にあたる部品を、自分で組む。置き場は Vercel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04 FastAPI ｜ なぜ API を挟むと良いか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ホールと厨房の間に「注文票」を置く。</a:t>
            </a:r>
          </a:p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店が変わっても、味は変わらない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4</a:t>
            </a:r>
          </a:p>
        </p:txBody>
      </p:sp>
      <p:pic>
        <p:nvPicPr>
          <p:cNvPr id="8" name="Picture 7" descr="fig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2184400"/>
            <a:ext cx="8763000" cy="350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9500" y="58420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正確には: 画面は決まった形で FastAPI に依頼する。判定・DB の読み書き・鍵（接続情報）は FastAPI だけが持つ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05 いまの風船アプリで困ること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風船アプリを、友達5人に使ってもらったら？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9500" y="1905000"/>
            <a:ext cx="3276600" cy="1752600"/>
          </a:xfrm>
          <a:prstGeom prst="roundRect">
            <a:avLst>
              <a:gd name="adj" fmla="val 8695"/>
            </a:avLst>
          </a:prstGeom>
          <a:solidFill>
            <a:srgbClr val="F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206500" y="2209800"/>
            <a:ext cx="30226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記録が消える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6900" y="2590800"/>
            <a:ext cx="1701800" cy="31750"/>
          </a:xfrm>
          <a:prstGeom prst="rect">
            <a:avLst/>
          </a:prstGeom>
          <a:solidFill>
            <a:srgbClr val="D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358900" y="2794000"/>
            <a:ext cx="27178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Streamlit Cloud は再起動で</a:t>
            </a:r>
          </a:p>
          <a:p>
            <a:pPr algn="ctr">
              <a:lnSpc>
                <a:spcPct val="12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CSV が初期化される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514600" y="3835400"/>
            <a:ext cx="406400" cy="203200"/>
          </a:xfrm>
          <a:prstGeom prst="triangle">
            <a:avLst/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660900" y="1905000"/>
            <a:ext cx="3276600" cy="1752600"/>
          </a:xfrm>
          <a:prstGeom prst="roundRect">
            <a:avLst>
              <a:gd name="adj" fmla="val 8695"/>
            </a:avLst>
          </a:prstGeom>
          <a:solidFill>
            <a:srgbClr val="F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787900" y="2209800"/>
            <a:ext cx="30226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全員のデータが混ざる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65700" y="2590800"/>
            <a:ext cx="2667000" cy="31750"/>
          </a:xfrm>
          <a:prstGeom prst="rect">
            <a:avLst/>
          </a:prstGeom>
          <a:solidFill>
            <a:srgbClr val="D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940300" y="2794000"/>
            <a:ext cx="27178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誰が入れても同じ表。</a:t>
            </a:r>
          </a:p>
          <a:p>
            <a:pPr algn="ctr">
              <a:lnSpc>
                <a:spcPct val="12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他人の体重が見える</a:t>
            </a:r>
          </a:p>
        </p:txBody>
      </p:sp>
      <p:sp>
        <p:nvSpPr>
          <p:cNvPr id="17" name="Isosceles Triangle 16"/>
          <p:cNvSpPr/>
          <p:nvPr/>
        </p:nvSpPr>
        <p:spPr>
          <a:xfrm rot="10800000">
            <a:off x="6096000" y="3835400"/>
            <a:ext cx="406400" cy="203200"/>
          </a:xfrm>
          <a:prstGeom prst="triangle">
            <a:avLst/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8242300" y="1905000"/>
            <a:ext cx="3276600" cy="1752600"/>
          </a:xfrm>
          <a:prstGeom prst="roundRect">
            <a:avLst>
              <a:gd name="adj" fmla="val 8695"/>
            </a:avLst>
          </a:prstGeom>
          <a:solidFill>
            <a:srgbClr val="F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369300" y="2209800"/>
            <a:ext cx="30226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スマホで崩れる・遅い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7100" y="2590800"/>
            <a:ext cx="2667000" cy="31750"/>
          </a:xfrm>
          <a:prstGeom prst="rect">
            <a:avLst/>
          </a:prstGeom>
          <a:solidFill>
            <a:srgbClr val="D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521700" y="2794000"/>
            <a:ext cx="27178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操作のたびにページ全体を</a:t>
            </a:r>
          </a:p>
          <a:p>
            <a:pPr algn="ctr">
              <a:lnSpc>
                <a:spcPct val="12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描き直す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9677400" y="3835400"/>
            <a:ext cx="406400" cy="203200"/>
          </a:xfrm>
          <a:prstGeom prst="triangle">
            <a:avLst/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1079500" y="4152900"/>
            <a:ext cx="10350500" cy="1168400"/>
          </a:xfrm>
          <a:prstGeom prst="roundRect">
            <a:avLst>
              <a:gd name="adj" fmla="val 13043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384300" y="4152900"/>
            <a:ext cx="9740900" cy="116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保存・判定・画面を、別々の場所に置く必要がある</a:t>
            </a:r>
          </a:p>
          <a:p>
            <a:pPr algn="ctr">
              <a:lnSpc>
                <a:spcPct val="140000"/>
              </a:lnSpc>
            </a:pPr>
            <a:r>
              <a:rPr sz="1250" b="0">
                <a:solidFill>
                  <a:srgbClr val="CADEFA"/>
                </a:solidFill>
                <a:latin typeface="Noto Sans JP"/>
                <a:ea typeface="Noto Sans JP"/>
              </a:rPr>
              <a:t>消えない保存場所（DB）／ 人ごとに分ける判定役（API）／ 端末に合わせて描く画面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06 Streamlit と比べて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できるようになること ／ 厳しくなること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2675" y="1905000"/>
            <a:ext cx="2413000" cy="3556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352675" y="1905000"/>
            <a:ext cx="2413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できるようになる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3825" y="1905000"/>
            <a:ext cx="2413000" cy="355600"/>
          </a:xfrm>
          <a:prstGeom prst="roundRect">
            <a:avLst>
              <a:gd name="adj" fmla="val 50000"/>
            </a:avLst>
          </a:prstGeom>
          <a:solidFill>
            <a:srgbClr val="D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743825" y="1905000"/>
            <a:ext cx="2413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厳しくなる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9500" y="251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181100" y="2565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記録が消えない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4900" y="2565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DB に保存。別の端末からも同じ記録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9500" y="3149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181100" y="3200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人ごとにデータを分けられる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4900" y="3200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ログインを付ければ本人の分だけ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9500" y="378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81100" y="3835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スマホで崩れない・速い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4900" y="3835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画面だけを部分的に描き直す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" y="4419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181100" y="4470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見た目を自由に作れる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4900" y="4470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アニメーション・グラフ・OGP 画像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9500" y="505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181100" y="5105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画面と判定を別々に直せる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4900" y="5105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API は他の画面からも使い回せる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9500" y="5689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8" name="Rectangle 27"/>
          <p:cNvSpPr/>
          <p:nvPr/>
        </p:nvSpPr>
        <p:spPr>
          <a:xfrm>
            <a:off x="6470650" y="251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572250" y="2565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動かす場所が3つになる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50" y="2565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Vercel・Render・Supabase を各自で用意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0650" y="3149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72250" y="3200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環境構築が重い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6050" y="3200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Node.js・Python・Git・鍵の管理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0650" y="378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572250" y="3835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言葉が2つ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6050" y="3835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画面は TypeScript、API は Python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70650" y="4419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572250" y="4470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決めてから作る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6050" y="4470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画面と API の受け渡しの形を先に決める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70650" y="505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6572250" y="5105400"/>
            <a:ext cx="2413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1人で全部は持てない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6050" y="5105400"/>
            <a:ext cx="2343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役割を分ける → 文書で共有する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70650" y="5689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1079500" y="58674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厳しさは、AI を使うことと、チームで分担することで下げる。だから文書が要る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07 構成の違い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屋台からレストランへ。</a:t>
            </a:r>
          </a:p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同じ料理でも、置き場が 1 → 3 に分かれる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7</a:t>
            </a:r>
          </a:p>
        </p:txBody>
      </p:sp>
      <p:pic>
        <p:nvPicPr>
          <p:cNvPr id="8" name="Picture 7" descr="fig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133600"/>
            <a:ext cx="8382000" cy="3939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08 分ける意味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分けると、直せる場所が増える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9500" y="1905000"/>
            <a:ext cx="3162300" cy="27178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384300" y="2209800"/>
            <a:ext cx="5842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384300" y="2209800"/>
            <a:ext cx="5842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2700" y="2679700"/>
            <a:ext cx="27559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ホールだけ改装できる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2700" y="3467100"/>
            <a:ext cx="2755900" cy="850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 lang="ja-JP">
                <a:solidFill>
                  <a:srgbClr val="171725"/>
                </a:solidFill>
                <a:latin typeface="Noto Sans JP"/>
                <a:ea typeface="Noto Sans JP"/>
              </a:rPr>
              <a:t>画面のデザインを変えても、判定は壊れない。スマホ対応は画面だけの仕事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3600" y="1905000"/>
            <a:ext cx="3162300" cy="27178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4978400" y="2209800"/>
            <a:ext cx="7493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978400" y="2209800"/>
            <a:ext cx="7493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2679700"/>
            <a:ext cx="27559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厨房だけ人を増やせる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0" y="3467100"/>
            <a:ext cx="2755900" cy="850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 lang="ja-JP">
                <a:solidFill>
                  <a:srgbClr val="171725"/>
                </a:solidFill>
                <a:latin typeface="Noto Sans JP"/>
                <a:ea typeface="Noto Sans JP"/>
              </a:rPr>
              <a:t>利用者が増えても画面は同じ。判定の追加（週平均・AI コーチ）は API だけの仕事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7700" y="1905000"/>
            <a:ext cx="3162300" cy="27178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8572500" y="2209800"/>
            <a:ext cx="5842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572500" y="2209800"/>
            <a:ext cx="5842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分担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0900" y="2679700"/>
            <a:ext cx="27559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注文票が決まれば分担できる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0900" y="3467100"/>
            <a:ext cx="2755900" cy="850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 lang="ja-JP">
                <a:solidFill>
                  <a:srgbClr val="171725"/>
                </a:solidFill>
                <a:latin typeface="Noto Sans JP"/>
                <a:ea typeface="Noto Sans JP"/>
              </a:rPr>
              <a:t>画面担当と API 担当が同時に作れる。AI に頼むときも「注文票」を渡せばよい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9500" y="4927600"/>
            <a:ext cx="10350500" cy="889000"/>
          </a:xfrm>
          <a:prstGeom prst="roundRect">
            <a:avLst>
              <a:gd name="adj" fmla="val 17142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384300" y="4927600"/>
            <a:ext cx="9740900" cy="88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注文票 = 仕様。だから W1 は文書に時間を使う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09 V字モデル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決めた順に、確かめる。</a:t>
            </a:r>
          </a:p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レシピを書いてから作り、レシピどおりか検品する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9</a:t>
            </a:r>
          </a:p>
        </p:txBody>
      </p:sp>
      <p:pic>
        <p:nvPicPr>
          <p:cNvPr id="8" name="Picture 7" descr="fig_v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2082800"/>
            <a:ext cx="76200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9500" y="58674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正確には: 左の4つを5文書に書き、右の4つのテストで同じ高さの文書に照らして確かめる。未決がゼロになるまで実装に進まない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10 人と AI の分担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人が決めて、AI が作る。人が確かめる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2175" y="1905000"/>
            <a:ext cx="2794000" cy="3556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162175" y="1905000"/>
            <a:ext cx="2794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人（チーム）がやること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3325" y="1905000"/>
            <a:ext cx="2794000" cy="3556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553325" y="1905000"/>
            <a:ext cx="27940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lang="ja-JP">
                <a:solidFill>
                  <a:srgbClr val="FFFFFF"/>
                </a:solidFill>
                <a:latin typeface="Noto Sans JP"/>
                <a:ea typeface="Noto Sans JP"/>
              </a:rPr>
              <a:t>AI に任せること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9500" y="251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181100" y="25654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要求・要件・仕様を書く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2500" y="25654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問いへの答えを、個人 → チームで文書にする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9500" y="31750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181100" y="32258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テスト設計を書く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2500" y="32258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何をもって「できた」とするかを先に決める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9500" y="38354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81100" y="38862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設計とコードをレビューする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2500" y="38862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AI が書いた設計案と PR を読んで OK を出す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" y="44958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181100" y="45466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本番で受入・自己評価する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2500" y="45466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自分たちの要求に照らして採点する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9500" y="51562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5" name="Rectangle 24"/>
          <p:cNvSpPr/>
          <p:nvPr/>
        </p:nvSpPr>
        <p:spPr>
          <a:xfrm>
            <a:off x="6470650" y="25146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572250" y="25654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設計案を書く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3650" y="25654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仕様から「どう作るか」の案を出す → 人が見る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0650" y="31750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572250" y="32258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実装する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3650" y="32258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画面・API・DB のコードを書く（Claude Code ／ munder）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0650" y="38354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72250" y="38862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テストを書いて実行する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3650" y="38862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単体・結合を回し、結果とログを証拠として出す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0650" y="44958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572250" y="4546600"/>
            <a:ext cx="22225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ja-JP">
                <a:solidFill>
                  <a:srgbClr val="171725"/>
                </a:solidFill>
                <a:latin typeface="Noto Sans JP"/>
                <a:ea typeface="Noto Sans JP"/>
              </a:rPr>
              <a:t>文書に無いものは作らない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3650" y="4546600"/>
            <a:ext cx="247015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「仕様に書かれていません」と報告して止まる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70650" y="5156200"/>
            <a:ext cx="495935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1079500" y="5410200"/>
            <a:ext cx="10350500" cy="812800"/>
          </a:xfrm>
          <a:prstGeom prst="roundRect">
            <a:avLst>
              <a:gd name="adj" fmla="val 1875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1384300" y="5410200"/>
            <a:ext cx="9740900" cy="81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文書に書いていないことを、AI は作らない</a:t>
            </a:r>
          </a:p>
          <a:p>
            <a:pPr algn="ctr">
              <a:lnSpc>
                <a:spcPct val="140000"/>
              </a:lnSpc>
            </a:pPr>
            <a:r>
              <a:rPr sz="1250" b="0">
                <a:solidFill>
                  <a:srgbClr val="CADEFA"/>
                </a:solidFill>
                <a:latin typeface="Noto Sans JP"/>
                <a:ea typeface="Noto Sans JP"/>
              </a:rPr>
              <a:t>文書の穴がそのまま実装の穴になる → だから W1 で文書に時間を使う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11 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1人1分。この4つだけ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9500" y="1905000"/>
            <a:ext cx="2263775" cy="2540000"/>
          </a:xfrm>
          <a:prstGeom prst="roundRect">
            <a:avLst>
              <a:gd name="adj" fmla="val 6732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384300" y="2209800"/>
            <a:ext cx="4191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384300" y="2209800"/>
            <a:ext cx="4191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2700" y="2679700"/>
            <a:ext cx="1857375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lang="ja-JP">
                <a:solidFill>
                  <a:srgbClr val="171725"/>
                </a:solidFill>
                <a:latin typeface="Noto Sans JP"/>
                <a:ea typeface="Noto Sans JP"/>
              </a:rPr>
              <a:t>名前・呼ばれ方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2700" y="3467100"/>
            <a:ext cx="1857375" cy="673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 lang="ja-JP">
                <a:solidFill>
                  <a:srgbClr val="171725"/>
                </a:solidFill>
                <a:latin typeface="Noto Sans JP"/>
                <a:ea typeface="Noto Sans JP"/>
              </a:rPr>
              <a:t>Slack の表示名と</a:t>
            </a:r>
          </a:p>
          <a:p>
            <a:pPr algn="ctr">
              <a:lnSpc>
                <a:spcPct val="130000"/>
              </a:lnSpc>
            </a:pPr>
            <a:r>
              <a:rPr sz="1350" b="0" lang="ja-JP">
                <a:solidFill>
                  <a:srgbClr val="171725"/>
                </a:solidFill>
                <a:latin typeface="Noto Sans JP"/>
                <a:ea typeface="Noto Sans JP"/>
              </a:rPr>
              <a:t>同じだと助かる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5075" y="1905000"/>
            <a:ext cx="2263775" cy="2540000"/>
          </a:xfrm>
          <a:prstGeom prst="roundRect">
            <a:avLst>
              <a:gd name="adj" fmla="val 6732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4079875" y="2209800"/>
            <a:ext cx="4191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079875" y="2209800"/>
            <a:ext cx="4191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8275" y="2679700"/>
            <a:ext cx="1857375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lang="ja-JP">
                <a:solidFill>
                  <a:srgbClr val="171725"/>
                </a:solidFill>
                <a:latin typeface="Noto Sans JP"/>
                <a:ea typeface="Noto Sans JP"/>
              </a:rPr>
              <a:t>普段の仕事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8275" y="3467100"/>
            <a:ext cx="1857375" cy="673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 lang="ja-JP">
                <a:solidFill>
                  <a:srgbClr val="171725"/>
                </a:solidFill>
                <a:latin typeface="Noto Sans JP"/>
                <a:ea typeface="Noto Sans JP"/>
              </a:rPr>
              <a:t>業種と役割を一言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0650" y="1905000"/>
            <a:ext cx="2263775" cy="2540000"/>
          </a:xfrm>
          <a:prstGeom prst="roundRect">
            <a:avLst>
              <a:gd name="adj" fmla="val 6732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6775450" y="2209800"/>
            <a:ext cx="4191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775450" y="2209800"/>
            <a:ext cx="4191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3850" y="2679700"/>
            <a:ext cx="1857375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lang="ja-JP">
                <a:solidFill>
                  <a:srgbClr val="171725"/>
                </a:solidFill>
                <a:latin typeface="Noto Sans JP"/>
                <a:ea typeface="Noto Sans JP"/>
              </a:rPr>
              <a:t>Streamlit で作ったもの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3850" y="3467100"/>
            <a:ext cx="1857375" cy="673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 lang="ja-JP">
                <a:solidFill>
                  <a:srgbClr val="171725"/>
                </a:solidFill>
                <a:latin typeface="Noto Sans JP"/>
                <a:ea typeface="Noto Sans JP"/>
              </a:rPr>
              <a:t>風船アプリで</a:t>
            </a:r>
          </a:p>
          <a:p>
            <a:pPr algn="ctr">
              <a:lnSpc>
                <a:spcPct val="130000"/>
              </a:lnSpc>
            </a:pPr>
            <a:r>
              <a:rPr sz="1350" b="0" lang="ja-JP">
                <a:solidFill>
                  <a:srgbClr val="171725"/>
                </a:solidFill>
                <a:latin typeface="Noto Sans JP"/>
                <a:ea typeface="Noto Sans JP"/>
              </a:rPr>
              <a:t>一番苦労した点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6225" y="1905000"/>
            <a:ext cx="2263775" cy="2540000"/>
          </a:xfrm>
          <a:prstGeom prst="roundRect">
            <a:avLst>
              <a:gd name="adj" fmla="val 6732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9471025" y="2209800"/>
            <a:ext cx="4191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471025" y="2209800"/>
            <a:ext cx="4191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9425" y="2679700"/>
            <a:ext cx="1857375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lang="ja-JP">
                <a:solidFill>
                  <a:srgbClr val="171725"/>
                </a:solidFill>
                <a:latin typeface="Noto Sans JP"/>
                <a:ea typeface="Noto Sans JP"/>
              </a:rPr>
              <a:t>持ち帰りたいもの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9425" y="3467100"/>
            <a:ext cx="1857375" cy="673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 lang="ja-JP">
                <a:solidFill>
                  <a:srgbClr val="171725"/>
                </a:solidFill>
                <a:latin typeface="Noto Sans JP"/>
                <a:ea typeface="Noto Sans JP"/>
              </a:rPr>
              <a:t>5週間後にできていたいこと。</a:t>
            </a:r>
          </a:p>
          <a:p>
            <a:pPr algn="ctr">
              <a:lnSpc>
                <a:spcPct val="130000"/>
              </a:lnSpc>
            </a:pPr>
            <a:r>
              <a:rPr sz="1350" b="0" lang="ja-JP">
                <a:solidFill>
                  <a:srgbClr val="171725"/>
                </a:solidFill>
                <a:latin typeface="Noto Sans JP"/>
                <a:ea typeface="Noto Sans JP"/>
              </a:rPr>
              <a:t>1つでよい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9500" y="46228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PC の OS（Mac / Windows）と、平日夜・週末どちらが動きやすいかも添える → 班の中の役割分担の材料にする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12 班分け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2班に分かれる。</a:t>
            </a:r>
          </a:p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片方は munder（AI チーム）と、片方はプレイブックで自力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6314" y="2222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lang="ja-JP">
                <a:solidFill>
                  <a:srgbClr val="171725"/>
                </a:solidFill>
                <a:latin typeface="Noto Sans JP"/>
                <a:ea typeface="Noto Sans JP"/>
              </a:rPr>
              <a:t>A班 ｜ munder あり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8906" y="2222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lang="ja-JP">
                <a:solidFill>
                  <a:srgbClr val="171725"/>
                </a:solidFill>
                <a:latin typeface="Noto Sans JP"/>
                <a:ea typeface="Noto Sans JP"/>
              </a:rPr>
              <a:t>B班 ｜ munder 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9500" y="2565400"/>
            <a:ext cx="7112000" cy="15240"/>
          </a:xfrm>
          <a:prstGeom prst="rect">
            <a:avLst/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79500" y="2603500"/>
            <a:ext cx="5268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6314" y="2603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さかもっちゃん（坂本 英樹）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8906" y="2603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もっちゃん（坂本 健一）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500" y="2946400"/>
            <a:ext cx="71120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79500" y="2984500"/>
            <a:ext cx="5268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6314" y="2984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あかぶ（赤鹿 洋介）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8906" y="2984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ゆきち（長谷川 ゆき）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9500" y="3327400"/>
            <a:ext cx="71120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79500" y="3365500"/>
            <a:ext cx="5268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6314" y="3365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じゃけ（森野 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8906" y="3365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べー（田野邊 優也）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9500" y="3708400"/>
            <a:ext cx="71120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79500" y="3746500"/>
            <a:ext cx="5268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6314" y="3746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だーあさ（朝田 浩暉）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8906" y="3746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まよりん（浅野 深世）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9500" y="4089400"/>
            <a:ext cx="71120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79500" y="4127500"/>
            <a:ext cx="5268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6314" y="4127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ゆき（宇津木 裕貴）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9500" y="4470400"/>
            <a:ext cx="71120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79500" y="4508500"/>
            <a:ext cx="5268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6314" y="4508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171725"/>
                </a:solidFill>
                <a:latin typeface="Noto Sans JP"/>
                <a:ea typeface="Noto Sans JP"/>
              </a:rPr>
              <a:t>たけ（竹村 宣彦）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9500" y="4851400"/>
            <a:ext cx="71120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079500" y="4889500"/>
            <a:ext cx="5268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2352C8"/>
                </a:solidFill>
                <a:latin typeface="Noto Sans JP"/>
                <a:ea typeface="Noto Sans JP"/>
              </a:rPr>
              <a:t>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6314" y="4889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2352C8"/>
                </a:solidFill>
                <a:latin typeface="Noto Sans JP"/>
                <a:ea typeface="Noto Sans JP"/>
              </a:rPr>
              <a:t>いべちゃん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8906" y="4889500"/>
            <a:ext cx="329259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lang="ja-JP">
                <a:solidFill>
                  <a:srgbClr val="2352C8"/>
                </a:solidFill>
                <a:latin typeface="Noto Sans JP"/>
                <a:ea typeface="Noto Sans JP"/>
              </a:rPr>
              <a:t>おがたく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9500" y="5232400"/>
            <a:ext cx="71120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7" name="Rounded Rectangle 36"/>
          <p:cNvSpPr/>
          <p:nvPr/>
        </p:nvSpPr>
        <p:spPr>
          <a:xfrm>
            <a:off x="8572500" y="2184400"/>
            <a:ext cx="2857500" cy="3048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8877300" y="2489200"/>
            <a:ext cx="1574800" cy="292100"/>
          </a:xfrm>
          <a:prstGeom prst="roundRect">
            <a:avLst>
              <a:gd name="adj" fmla="val 26086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877300" y="2489200"/>
            <a:ext cx="1574800" cy="292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ja-JP">
                <a:solidFill>
                  <a:srgbClr val="FFFFFF"/>
                </a:solidFill>
                <a:latin typeface="Noto Sans JP"/>
                <a:ea typeface="Noto Sans JP"/>
              </a:rPr>
              <a:t>各班で決めること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7300" y="2959100"/>
            <a:ext cx="2413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・ PM を1名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77300" y="3390900"/>
            <a:ext cx="2413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・ 担当（画面・API・QA。兼務可）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77300" y="3822700"/>
            <a:ext cx="2413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・ 週次の集まりの曜日と時間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7300" y="4254500"/>
            <a:ext cx="2413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・ Slack のチームチャンネル名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9500" y="54102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どちらの班も Claude Code は使える。違いは「5文書の壁打ち相手」が AI（りじちょー）か、プレイブックか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13 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10/6（火）発表から逆算。</a:t>
            </a:r>
          </a:p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25日で5つのゲートを通る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9500" y="2336800"/>
            <a:ext cx="10350500" cy="25400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611841" y="2197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611841" y="2197100"/>
            <a:ext cx="6604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FFFFFF"/>
                </a:solidFill>
                <a:latin typeface="Noto Sans JP"/>
                <a:ea typeface="Noto Sans JP"/>
              </a:rPr>
              <a:t>W0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4641" y="2565400"/>
            <a:ext cx="15748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環境と Hello</a:t>
            </a:r>
          </a:p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9/11〜15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6925" y="2197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336925" y="2197100"/>
            <a:ext cx="6604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FFFFFF"/>
                </a:solidFill>
                <a:latin typeface="Noto Sans JP"/>
                <a:ea typeface="Noto Sans JP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9725" y="2565400"/>
            <a:ext cx="15748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要求 → 5文書</a:t>
            </a:r>
          </a:p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9/16〜21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2008" y="2197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062008" y="2197100"/>
            <a:ext cx="6604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FFFFFF"/>
                </a:solidFill>
                <a:latin typeface="Noto Sans JP"/>
                <a:ea typeface="Noto Sans JP"/>
              </a:rPr>
              <a:t>W2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4808" y="2565400"/>
            <a:ext cx="15748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L1 を本番へ</a:t>
            </a:r>
          </a:p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9/22〜26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7091" y="2197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787091" y="2197100"/>
            <a:ext cx="6604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FFFFFF"/>
                </a:solidFill>
                <a:latin typeface="Noto Sans JP"/>
                <a:ea typeface="Noto Sans JP"/>
              </a:rPr>
              <a:t>W3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9891" y="2565400"/>
            <a:ext cx="15748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UX 機能を三層で</a:t>
            </a:r>
          </a:p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9/27〜10/1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12175" y="2197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512175" y="2197100"/>
            <a:ext cx="6604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FFFFFF"/>
                </a:solidFill>
                <a:latin typeface="Noto Sans JP"/>
                <a:ea typeface="Noto Sans JP"/>
              </a:rPr>
              <a:t>W4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4975" y="2565400"/>
            <a:ext cx="15748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評価 → 受入</a:t>
            </a:r>
          </a:p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10/2〜5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37258" y="2197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237258" y="2197100"/>
            <a:ext cx="6604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FFFFFF"/>
                </a:solidFill>
                <a:latin typeface="Noto Sans JP"/>
                <a:ea typeface="Noto Sans JP"/>
              </a:rPr>
              <a:t>発表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0058" y="2565400"/>
            <a:ext cx="15748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本番 URL で</a:t>
            </a:r>
          </a:p>
          <a:p>
            <a:pPr algn="ctr">
              <a:lnSpc>
                <a:spcPct val="115000"/>
              </a:lnSpc>
            </a:pPr>
            <a:r>
              <a:rPr sz="1250" b="0" lang="ja-JP">
                <a:solidFill>
                  <a:srgbClr val="171725"/>
                </a:solidFill>
                <a:latin typeface="Noto Sans JP"/>
                <a:ea typeface="Noto Sans JP"/>
              </a:rPr>
              <a:t>10/6（火）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500" y="3263900"/>
            <a:ext cx="728908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lang="ja-JP">
                <a:solidFill>
                  <a:srgbClr val="171725"/>
                </a:solidFill>
                <a:latin typeface="Noto Sans JP"/>
                <a:ea typeface="Noto Sans JP"/>
              </a:rPr>
              <a:t>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8408" y="3263900"/>
            <a:ext cx="5102359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lang="ja-JP">
                <a:solidFill>
                  <a:srgbClr val="171725"/>
                </a:solidFill>
                <a:latin typeface="Noto Sans JP"/>
                <a:ea typeface="Noto Sans JP"/>
              </a:rPr>
              <a:t>やること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0767" y="3263900"/>
            <a:ext cx="3644542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lang="ja-JP">
                <a:solidFill>
                  <a:srgbClr val="171725"/>
                </a:solidFill>
                <a:latin typeface="Noto Sans JP"/>
                <a:ea typeface="Noto Sans JP"/>
              </a:rPr>
              <a:t>次へ進む条件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5309" y="3263900"/>
            <a:ext cx="87469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lang="ja-JP">
                <a:solidFill>
                  <a:srgbClr val="171725"/>
                </a:solidFill>
                <a:latin typeface="Noto Sans JP"/>
                <a:ea typeface="Noto Sans JP"/>
              </a:rPr>
              <a:t>目安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9500" y="3657600"/>
            <a:ext cx="10350500" cy="15240"/>
          </a:xfrm>
          <a:prstGeom prst="rect">
            <a:avLst/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1079500" y="3695700"/>
            <a:ext cx="728908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W0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8408" y="3695700"/>
            <a:ext cx="5102359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環境構築。全員が Hello を自分の Vercel / Render / Supabase で動かす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0767" y="3695700"/>
            <a:ext cx="3644542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自分の本番 URL で三層が動く・PR 1本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5309" y="3695700"/>
            <a:ext cx="87469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4〜6h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9500" y="40894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079500" y="4127500"/>
            <a:ext cx="728908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W1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8408" y="4127500"/>
            <a:ext cx="5102359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個人回答 → チーム議論 → 要求・要件・仕様・設計・テスト設計 → 承認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0767" y="4127500"/>
            <a:ext cx="3644542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5文書の未決ゼロ・人の承認記録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5309" y="4127500"/>
            <a:ext cx="87469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6〜10h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9500" y="45212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079500" y="4559300"/>
            <a:ext cx="728908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W2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8408" y="4559300"/>
            <a:ext cx="5102359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L1（目標・記録・グラフ・4パターン判定）をチームで作り本番へ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10767" y="4559300"/>
            <a:ext cx="3644542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4機能が本番で動く・テストの証拠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5309" y="4559300"/>
            <a:ext cx="87469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6〜10h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9500" y="49530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1079500" y="4991100"/>
            <a:ext cx="728908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W3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08408" y="4991100"/>
            <a:ext cx="5102359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問いから決めた UX 機能を、画面・API・DB すべてに手を入れて本番へ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0767" y="4991100"/>
            <a:ext cx="3644542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三層に差分・回帰テスト全○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5309" y="4991100"/>
            <a:ext cx="87469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6〜10h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9500" y="53848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1079500" y="5422900"/>
            <a:ext cx="728908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W4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8408" y="5422900"/>
            <a:ext cx="5102359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自己評価 → TA と相互レビュー → 修正 → 受入 → 本番 URL で全員発表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0767" y="5422900"/>
            <a:ext cx="3644542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自己評価の表・受入記録・発表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5309" y="5422900"/>
            <a:ext cx="87469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ja-JP">
                <a:solidFill>
                  <a:srgbClr val="171725"/>
                </a:solidFill>
                <a:latin typeface="Noto Sans JP"/>
                <a:ea typeface="Noto Sans JP"/>
              </a:rPr>
              <a:t>3〜4h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9500" y="58166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1079500" y="5969000"/>
            <a:ext cx="10350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ja-JP">
                <a:solidFill>
                  <a:srgbClr val="50505D"/>
                </a:solidFill>
                <a:latin typeface="Noto Sans JP"/>
                <a:ea typeface="Noto Sans JP"/>
              </a:rPr>
              <a:t>合計 25〜40 時間を 25 日で。週の負荷は通常の 1.4 倍 → 週次の集まり（曜日・時間）を今日決める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14 今日決めること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この4つを決めて帰る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9500" y="19050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181100" y="21590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1717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689100" y="1981200"/>
            <a:ext cx="2540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班の中の役割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0" y="1981200"/>
            <a:ext cx="6921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lang="ja-JP">
                <a:solidFill>
                  <a:srgbClr val="171725"/>
                </a:solidFill>
                <a:latin typeface="Noto Sans JP"/>
                <a:ea typeface="Noto Sans JP"/>
              </a:rPr>
              <a:t>A班・B班それぞれで PM と、フロント／バック・DB／QA の担当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9500" y="27178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181100" y="29718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1717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689100" y="2794000"/>
            <a:ext cx="2540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週次の集まり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0" y="2794000"/>
            <a:ext cx="6921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lang="ja-JP">
                <a:solidFill>
                  <a:srgbClr val="171725"/>
                </a:solidFill>
                <a:latin typeface="Noto Sans JP"/>
                <a:ea typeface="Noto Sans JP"/>
              </a:rPr>
              <a:t>曜日と時間。W1 は 9/16〜18 と 9/19〜21 の2回に分ける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9500" y="35306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1181100" y="37846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1717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689100" y="3606800"/>
            <a:ext cx="2540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W0 の期限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1500" y="3606800"/>
            <a:ext cx="6921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lang="ja-JP">
                <a:solidFill>
                  <a:srgbClr val="171725"/>
                </a:solidFill>
                <a:latin typeface="Noto Sans JP"/>
                <a:ea typeface="Noto Sans JP"/>
              </a:rPr>
              <a:t>9/15（月）までに、全員が Hello の本番 URL を Slack に貼る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9500" y="43434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1181100" y="45974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1717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689100" y="4419600"/>
            <a:ext cx="2540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lang="ja-JP">
                <a:solidFill>
                  <a:srgbClr val="171725"/>
                </a:solidFill>
                <a:latin typeface="Noto Sans JP"/>
                <a:ea typeface="Noto Sans JP"/>
              </a:rPr>
              <a:t>質問のルール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1500" y="4419600"/>
            <a:ext cx="6921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lang="ja-JP">
                <a:solidFill>
                  <a:srgbClr val="171725"/>
                </a:solidFill>
                <a:latin typeface="Noto Sans JP"/>
                <a:ea typeface="Noto Sans JP"/>
              </a:rPr>
              <a:t>詰まったら「章番号・打ったコマンド・出た画面」の3点を雑談チャンネルへ。返答は平日24時間以内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9500" y="51562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1079500" y="5410200"/>
            <a:ext cx="10350500" cy="762000"/>
          </a:xfrm>
          <a:prstGeom prst="roundRect">
            <a:avLst>
              <a:gd name="adj" fmla="val 20000"/>
            </a:avLst>
          </a:prstGeom>
          <a:solidFill>
            <a:srgbClr val="235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384300" y="5410200"/>
            <a:ext cx="97409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次のアクション: 帰ったら docs/00_start/start.md の章0〜5（GitHub・道具・clone）</a:t>
            </a:r>
          </a:p>
          <a:p>
            <a:pPr algn="ctr">
              <a:lnSpc>
                <a:spcPct val="140000"/>
              </a:lnSpc>
            </a:pPr>
            <a:r>
              <a:rPr sz="1250" b="0">
                <a:solidFill>
                  <a:srgbClr val="CADEFA"/>
                </a:solidFill>
                <a:latin typeface="Noto Sans JP"/>
                <a:ea typeface="Noto Sans JP"/>
              </a:rPr>
              <a:t>Org の招待は「Org」と「munder のリポ」の2通。両方受諾する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17500" y="228600"/>
            <a:ext cx="533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 spc="150">
                <a:solidFill>
                  <a:srgbClr val="50505D"/>
                </a:solidFill>
                <a:latin typeface="Noto Sans JP"/>
                <a:ea typeface="Noto Sans JP"/>
              </a:rPr>
              <a:t>付録 用語集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28600"/>
            <a:ext cx="3492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lang="ja-JP" spc="120">
                <a:solidFill>
                  <a:srgbClr val="171725"/>
                </a:solidFill>
                <a:latin typeface="Noto Sans JP"/>
                <a:ea typeface="Noto Sans JP"/>
              </a:rPr>
              <a:t>Tech0 ｜ 風船アプリ移植クエスト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" y="990600"/>
            <a:ext cx="78740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lang="ja-JP">
                <a:solidFill>
                  <a:srgbClr val="171725"/>
                </a:solidFill>
                <a:latin typeface="Noto Sans JP"/>
                <a:ea typeface="Noto Sans JP"/>
              </a:rPr>
              <a:t>今日出てきた言葉と、例えの対応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" y="65024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lang="ja-JP">
                <a:solidFill>
                  <a:srgbClr val="9A9AA5"/>
                </a:solidFill>
                <a:latin typeface="Noto Sans JP"/>
                <a:ea typeface="Noto Sans JP"/>
              </a:rPr>
              <a:t>©2026 Tech0 12th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5600" y="6502400"/>
            <a:ext cx="25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lang="ja-JP">
                <a:solidFill>
                  <a:srgbClr val="9A9AA5"/>
                </a:solidFill>
                <a:latin typeface="Noto Sans JP"/>
                <a:ea typeface="Noto Sans JP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00" y="19431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lang="ja-JP">
                <a:solidFill>
                  <a:srgbClr val="171725"/>
                </a:solidFill>
                <a:latin typeface="Noto Sans JP"/>
                <a:ea typeface="Noto Sans JP"/>
              </a:rPr>
              <a:t>用語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8886" y="19431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lang="ja-JP">
                <a:solidFill>
                  <a:srgbClr val="171725"/>
                </a:solidFill>
                <a:latin typeface="Noto Sans JP"/>
                <a:ea typeface="Noto Sans JP"/>
              </a:rPr>
              <a:t>例え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1225" y="19431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lang="ja-JP">
                <a:solidFill>
                  <a:srgbClr val="171725"/>
                </a:solidFill>
                <a:latin typeface="Noto Sans JP"/>
                <a:ea typeface="Noto Sans JP"/>
              </a:rPr>
              <a:t>一言でいうと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9500" y="2311400"/>
            <a:ext cx="10350500" cy="15240"/>
          </a:xfrm>
          <a:prstGeom prst="rect">
            <a:avLst/>
          </a:prstGeom>
          <a:solidFill>
            <a:srgbClr val="17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79500" y="23495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フロントエンド（Next.js）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8886" y="23495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ホール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1225" y="23495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ブラウザに表示される画面。入力を受け取り、API を呼ぶ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9500" y="27178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79500" y="27559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バックエンド・API（FastAPI）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8886" y="27559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厨房・注文票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1225" y="27559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画面からの依頼を決まった形で受け、判定や保存をする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9500" y="31242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79500" y="31623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データベース（Supabase）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8886" y="31623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冷蔵庫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1225" y="31623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目標体重と記録を保存する。API だけが触る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9500" y="35306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79500" y="35687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デプロイ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8886" y="35687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店を開ける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1225" y="35687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作ったものをクラウドに置き、URL で誰でも開けるようにする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9500" y="39370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1079500" y="39751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Vercel / 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8886" y="39751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店舗の場所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1225" y="39751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画面と API の置き場。push すると自動で更新される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9500" y="43434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1079500" y="43815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環境変数・.env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8886" y="43815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厨房の鍵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1225" y="43815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接続情報や API キー。コードに書かず、管理画面にだけ置く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9500" y="47498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79500" y="47879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PR（プルリクエスト）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8886" y="47879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試食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1225" y="47879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変更を main に入れる前に、人が見て OK を出す手順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9500" y="51562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1079500" y="5194300"/>
            <a:ext cx="2929386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5文書・V字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08886" y="5194300"/>
            <a:ext cx="1562339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レシピと検品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1225" y="5194300"/>
            <a:ext cx="5858773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lang="ja-JP">
                <a:solidFill>
                  <a:srgbClr val="171725"/>
                </a:solidFill>
                <a:latin typeface="Noto Sans JP"/>
                <a:ea typeface="Noto Sans JP"/>
              </a:rPr>
              <a:t>要求・要件・仕様・設計・テスト設計。書いた順に確認する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9500" y="5562600"/>
            <a:ext cx="10350500" cy="9525"/>
          </a:xfrm>
          <a:prstGeom prst="rect">
            <a:avLst/>
          </a:prstGeom>
          <a:solidFill>
            <a:srgbClr val="D6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